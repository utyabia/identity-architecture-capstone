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Jadon's%20Hub%20Mentoring\Jan%20Capstone\1.Professional%20Identity%20Architecture%20-%20Global%20SuperStore%20Dictionary\superstore%20-%20Cleaned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Jadon's%20Hub%20Mentoring\Jan%20Capstone\1.Professional%20Identity%20Architecture%20-%20Global%20SuperStore%20Dictionary\superstore%20-%20Cleaned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 - Cleaned.csv]PivotTable!PivotTable1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PivotTable!$B$3:$B$4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PivotTable!$A$5:$A$12</c:f>
              <c:strCache>
                <c:ptCount val="7"/>
                <c:pt idx="0">
                  <c:v>Africa</c:v>
                </c:pt>
                <c:pt idx="1">
                  <c:v>APAC</c:v>
                </c:pt>
                <c:pt idx="2">
                  <c:v>Canada</c:v>
                </c:pt>
                <c:pt idx="3">
                  <c:v>EMEA</c:v>
                </c:pt>
                <c:pt idx="4">
                  <c:v>EU</c:v>
                </c:pt>
                <c:pt idx="5">
                  <c:v>LATAM</c:v>
                </c:pt>
                <c:pt idx="6">
                  <c:v>US</c:v>
                </c:pt>
              </c:strCache>
            </c:strRef>
          </c:cat>
          <c:val>
            <c:numRef>
              <c:f>PivotTable!$B$5:$B$12</c:f>
              <c:numCache>
                <c:formatCode>General</c:formatCode>
                <c:ptCount val="7"/>
                <c:pt idx="0">
                  <c:v>2381</c:v>
                </c:pt>
                <c:pt idx="1">
                  <c:v>5699</c:v>
                </c:pt>
                <c:pt idx="2">
                  <c:v>202</c:v>
                </c:pt>
                <c:pt idx="3">
                  <c:v>2538</c:v>
                </c:pt>
                <c:pt idx="4">
                  <c:v>5186</c:v>
                </c:pt>
                <c:pt idx="5">
                  <c:v>5321</c:v>
                </c:pt>
                <c:pt idx="6">
                  <c:v>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22-465A-AE99-9B9B6399CC84}"/>
            </c:ext>
          </c:extLst>
        </c:ser>
        <c:ser>
          <c:idx val="1"/>
          <c:order val="1"/>
          <c:tx>
            <c:strRef>
              <c:f>PivotTable!$C$3:$C$4</c:f>
              <c:strCache>
                <c:ptCount val="1"/>
                <c:pt idx="0">
                  <c:v>Corporate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PivotTable!$A$5:$A$12</c:f>
              <c:strCache>
                <c:ptCount val="7"/>
                <c:pt idx="0">
                  <c:v>Africa</c:v>
                </c:pt>
                <c:pt idx="1">
                  <c:v>APAC</c:v>
                </c:pt>
                <c:pt idx="2">
                  <c:v>Canada</c:v>
                </c:pt>
                <c:pt idx="3">
                  <c:v>EMEA</c:v>
                </c:pt>
                <c:pt idx="4">
                  <c:v>EU</c:v>
                </c:pt>
                <c:pt idx="5">
                  <c:v>LATAM</c:v>
                </c:pt>
                <c:pt idx="6">
                  <c:v>US</c:v>
                </c:pt>
              </c:strCache>
            </c:strRef>
          </c:cat>
          <c:val>
            <c:numRef>
              <c:f>PivotTable!$C$5:$C$12</c:f>
              <c:numCache>
                <c:formatCode>General</c:formatCode>
                <c:ptCount val="7"/>
                <c:pt idx="0">
                  <c:v>1312</c:v>
                </c:pt>
                <c:pt idx="1">
                  <c:v>3283</c:v>
                </c:pt>
                <c:pt idx="2">
                  <c:v>110</c:v>
                </c:pt>
                <c:pt idx="3">
                  <c:v>1574</c:v>
                </c:pt>
                <c:pt idx="4">
                  <c:v>3077</c:v>
                </c:pt>
                <c:pt idx="5">
                  <c:v>3053</c:v>
                </c:pt>
                <c:pt idx="6">
                  <c:v>3020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22-465A-AE99-9B9B6399CC84}"/>
            </c:ext>
          </c:extLst>
        </c:ser>
        <c:ser>
          <c:idx val="2"/>
          <c:order val="2"/>
          <c:tx>
            <c:strRef>
              <c:f>PivotTable!$D$3:$D$4</c:f>
              <c:strCache>
                <c:ptCount val="1"/>
                <c:pt idx="0">
                  <c:v>Home Office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PivotTable!$A$5:$A$12</c:f>
              <c:strCache>
                <c:ptCount val="7"/>
                <c:pt idx="0">
                  <c:v>Africa</c:v>
                </c:pt>
                <c:pt idx="1">
                  <c:v>APAC</c:v>
                </c:pt>
                <c:pt idx="2">
                  <c:v>Canada</c:v>
                </c:pt>
                <c:pt idx="3">
                  <c:v>EMEA</c:v>
                </c:pt>
                <c:pt idx="4">
                  <c:v>EU</c:v>
                </c:pt>
                <c:pt idx="5">
                  <c:v>LATAM</c:v>
                </c:pt>
                <c:pt idx="6">
                  <c:v>US</c:v>
                </c:pt>
              </c:strCache>
            </c:strRef>
          </c:cat>
          <c:val>
            <c:numRef>
              <c:f>PivotTable!$D$5:$D$12</c:f>
              <c:numCache>
                <c:formatCode>General</c:formatCode>
                <c:ptCount val="7"/>
                <c:pt idx="0">
                  <c:v>894</c:v>
                </c:pt>
                <c:pt idx="1">
                  <c:v>2020</c:v>
                </c:pt>
                <c:pt idx="2">
                  <c:v>72</c:v>
                </c:pt>
                <c:pt idx="3">
                  <c:v>917</c:v>
                </c:pt>
                <c:pt idx="4">
                  <c:v>1737</c:v>
                </c:pt>
                <c:pt idx="5">
                  <c:v>1920</c:v>
                </c:pt>
                <c:pt idx="6">
                  <c:v>1783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22-465A-AE99-9B9B6399C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1522143"/>
        <c:axId val="241521183"/>
      </c:barChart>
      <c:catAx>
        <c:axId val="241522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1521183"/>
        <c:crosses val="autoZero"/>
        <c:auto val="1"/>
        <c:lblAlgn val="ctr"/>
        <c:lblOffset val="100"/>
        <c:noMultiLvlLbl val="0"/>
      </c:catAx>
      <c:valAx>
        <c:axId val="2415211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1522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 - Cleaned.csv]PivotTable!PivotTable4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PivotTable!$B$59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PivotTable!$A$60:$A$64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PivotTable!$B$60:$B$64</c:f>
              <c:numCache>
                <c:formatCode>"$"#,##0.00</c:formatCode>
                <c:ptCount val="4"/>
                <c:pt idx="0">
                  <c:v>2259511</c:v>
                </c:pt>
                <c:pt idx="1">
                  <c:v>2677493</c:v>
                </c:pt>
                <c:pt idx="2">
                  <c:v>3405860</c:v>
                </c:pt>
                <c:pt idx="3">
                  <c:v>4300041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E3-4A82-AE31-AD83E8946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5592735"/>
        <c:axId val="275592255"/>
      </c:lineChart>
      <c:catAx>
        <c:axId val="275592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592255"/>
        <c:crosses val="autoZero"/>
        <c:auto val="1"/>
        <c:lblAlgn val="ctr"/>
        <c:lblOffset val="100"/>
        <c:noMultiLvlLbl val="0"/>
      </c:catAx>
      <c:valAx>
        <c:axId val="275592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592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2487-5EF1-1AA7-89D2-2D83F0C95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56314-1D9D-C97A-5C51-8BAEE07B1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054C3-91DA-9274-F3B4-2F56736D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1077C-C9AF-099D-5F84-3F19FF57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F8BCF-D5B0-953E-190E-665AF47B4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7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3D47-D23B-8BAB-6EA6-81D7E756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8DADC-36D4-D42A-4A40-906BAB43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1334E-DC74-29D1-10FD-1F43A1DD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75D5E-449D-54C4-A554-67FA8281B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3470-E2D5-1413-FF54-5E75B6AC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88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4C99-A21F-FC6B-7E1F-40270051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C624B-3350-54A8-8800-F2270BB60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ECBDC-4C2A-9E4C-57B7-57620D8A7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48DC7-8FAC-C40F-B0FE-7761DA31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06ECE-A598-9BB1-1905-1D165790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3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03130-1AFE-ED28-30CE-CAD570DB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3772F-637C-38FE-BDD9-A7269D0D4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8D68C-42C1-BDEA-ECED-FF1093E93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C288F-EEF9-1D06-C843-994E45C4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A177B-63C3-4732-E418-0EA7208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92177-1E8F-0CF9-35B9-5F089A5C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1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722D-EF54-9B80-4CBF-37F8B972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5C3D7-CC77-2EAE-5C4A-8B23C2977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3C3A8-2A0C-485B-2CE5-034B981D5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1AAD4-7A45-1963-5414-4BAFD45AB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4DD9B-F4F6-8054-838D-63ADBB756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E62D51-18D0-33E0-23F4-D1F01AC8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8DD1F-584F-4573-DE4E-CC74D6EF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624F4-4BBD-34A0-14AC-EB8C95ECD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1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276E-4AB1-80FF-A01E-446EC0AE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59618-5ABF-9272-C2B2-AB2AF07B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5BF51-ED4B-B21B-8A5B-0D0B4593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B671C-264F-998B-4A4B-5540154A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3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B838F-BA59-7A3A-B310-77C1AA59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4376B-3746-06C7-D056-2A7A4CE3D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0CEA7-AC3D-C263-BE0E-98DF7DAC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19275-4AE1-C0EA-A2FE-D0C15DDDB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69020-4469-1BBD-37DA-5C6D33E3D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F837A-2E6B-4EFD-59DF-07350EC3A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D6763-BA33-C65D-A0FD-65F0CFA3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74405-95F7-F62E-B87B-F121C3CA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D46A0-8086-130B-1F40-081C6CF1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43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3275-3FA8-D0A5-F7F4-E9305020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C3AFCC-2941-EA0D-33C5-7C0AD362E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A8ACF-D019-DF42-F467-0A46DBDD6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FBB53-F67D-10BF-C239-177E7113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F4DD3-9CE6-8C91-18FD-ADF950D4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7105D-1FAD-53B4-B225-314E4225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4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2DB5-5902-7627-102D-32C879ED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4DACE-EED0-0F22-D0D0-9D514AD9E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7311B-0FD5-3772-BB27-B3D87D9E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FA71E-A43B-3E09-4693-B0AC485F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4F92-9BF4-02C8-25E5-04C0A90E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2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566AA-8A1B-629E-323D-5C449CF45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2FACC-8184-29DA-5598-6ED54A562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5C1E0-91EE-ED40-03AD-DCFC7039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3266B-7856-149E-1F84-48DBC2C3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DCD6A-E2ED-8433-0F2D-6B3D01322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D07C8-5BB4-E645-29BE-8E5B0162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4D7C6-57A9-3522-A83A-55FDD693B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288DC-BEB4-46BC-FC23-836BEED80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343B6-E872-475B-B99D-3FAEB30B76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4DE76-7188-B843-B721-93E538E28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652A-D5D9-29A5-D2FE-1F6F1E729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5F196-4D12-4DEA-9A93-820287B9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28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EAFE-E210-D832-7BC7-AFF012C52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Identity Architecture: Analyzing Global Superstore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3FB56-FD65-BF53-09F8-69124EF13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Utibe-Abasi Abia</a:t>
            </a:r>
          </a:p>
        </p:txBody>
      </p:sp>
    </p:spTree>
    <p:extLst>
      <p:ext uri="{BB962C8B-B14F-4D97-AF65-F5344CB8AC3E}">
        <p14:creationId xmlns:p14="http://schemas.microsoft.com/office/powerpoint/2010/main" val="423661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7A8C4-2B5B-AD87-8465-88B76B981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5165"/>
            <a:ext cx="10515600" cy="3051798"/>
          </a:xfrm>
        </p:spPr>
        <p:txBody>
          <a:bodyPr/>
          <a:lstStyle/>
          <a:p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deliver a data-driven blueprint that optimizes market targeting and reduces shipping redundancies.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262B18-F1D5-27B8-3040-EC2CBDD90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43240"/>
            <a:ext cx="109431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evaluate customer and geographic identities to identify security (risk) and operational gaps.</a:t>
            </a:r>
          </a:p>
        </p:txBody>
      </p:sp>
    </p:spTree>
    <p:extLst>
      <p:ext uri="{BB962C8B-B14F-4D97-AF65-F5344CB8AC3E}">
        <p14:creationId xmlns:p14="http://schemas.microsoft.com/office/powerpoint/2010/main" val="3329581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63BD-6D1E-54B1-4304-C02EE2CC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Data Corruption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B07D6-1D69-B7EC-9AAC-253B7C91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Identified that </a:t>
            </a:r>
            <a:r>
              <a:rPr lang="en-US" dirty="0" err="1"/>
              <a:t>Order.Date</a:t>
            </a:r>
            <a:r>
              <a:rPr lang="en-US" dirty="0"/>
              <a:t> and </a:t>
            </a:r>
            <a:r>
              <a:rPr lang="en-US" dirty="0" err="1"/>
              <a:t>Ship.Date</a:t>
            </a:r>
            <a:r>
              <a:rPr lang="en-US" dirty="0"/>
              <a:t> fields were corrupted (showing 00:00.0). I successfully reconstructed the timeline using Year and </a:t>
            </a:r>
            <a:r>
              <a:rPr lang="en-US" dirty="0" err="1"/>
              <a:t>weeknum</a:t>
            </a:r>
            <a:r>
              <a:rPr lang="en-US" dirty="0"/>
              <a:t> columns to maintain the integrity of the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100395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7B6C-8498-2E50-E497-361A5777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DA092F-36A7-6EEE-82D4-9C5E702EC5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3589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4871-75FF-F980-23D8-15B394B1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33CC0B-B321-6CF3-768C-A5C9B6ED59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0578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1BF9-73DA-50E9-87EA-2F62ED90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Recommendation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E2B48-92EB-6B03-C9CB-DF3BA6B4E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Strategy:</a:t>
            </a:r>
            <a:r>
              <a:rPr lang="en-US" dirty="0"/>
              <a:t> "Shift focus from high-discount regions (EMEA/LATAM) to high-profit identities in the US Market to increase overall margin by 12%."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793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110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Identity Architecture: Analyzing Global Superstore Patterns</vt:lpstr>
      <vt:lpstr>Objective: To evaluate customer and geographic identities to identify security (risk) and operational gaps.</vt:lpstr>
      <vt:lpstr>Handling Data Corruption</vt:lpstr>
      <vt:lpstr>PowerPoint Presentation</vt:lpstr>
      <vt:lpstr>PowerPoint Presentation</vt:lpstr>
      <vt:lpstr>Final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Utibe-Abasi Abia</dc:creator>
  <cp:lastModifiedBy>Utibe-Abasi Abia</cp:lastModifiedBy>
  <cp:revision>2</cp:revision>
  <dcterms:created xsi:type="dcterms:W3CDTF">2026-02-08T20:27:46Z</dcterms:created>
  <dcterms:modified xsi:type="dcterms:W3CDTF">2026-02-08T20:32:16Z</dcterms:modified>
</cp:coreProperties>
</file>